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b87486c38470e" /><Relationship Type="http://schemas.openxmlformats.org/officeDocument/2006/relationships/extended-properties" Target="/docProps/app.xml" Id="R7df964dd3ac34bd8" /><Relationship Type="http://schemas.openxmlformats.org/officeDocument/2006/relationships/officeDocument" Target="/ppt/presentation.xml" Id="R4e615768eb4d45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cc330ff43e42fb"/>
  </p:sldMasterIdLst>
  <p:notesMasterIdLst>
    <p:notesMasterId xmlns:r="http://schemas.openxmlformats.org/officeDocument/2006/relationships" r:id="R441b3e78cf55450f"/>
  </p:notesMasterIdLst>
  <p:sldIdLst>
    <p:sldId xmlns:r="http://schemas.openxmlformats.org/officeDocument/2006/relationships" id="256" r:id="R3f557c786f934412"/>
    <p:sldId xmlns:r="http://schemas.openxmlformats.org/officeDocument/2006/relationships" id="257" r:id="Ree5fbc1f89c04c34"/>
    <p:sldId xmlns:r="http://schemas.openxmlformats.org/officeDocument/2006/relationships" id="258" r:id="Ra3cc38df02f347ed"/>
    <p:sldId xmlns:r="http://schemas.openxmlformats.org/officeDocument/2006/relationships" id="259" r:id="R839583904db546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b42b8c4e954275" /><Relationship Type="http://schemas.openxmlformats.org/officeDocument/2006/relationships/slideMaster" Target="/ppt/slideMasters/slideMaster1.xml" Id="R03cc330ff43e42fb" /><Relationship Type="http://schemas.openxmlformats.org/officeDocument/2006/relationships/notesMaster" Target="/ppt/notesMasters/notesMaster1.xml" Id="R441b3e78cf55450f" /><Relationship Type="http://schemas.openxmlformats.org/officeDocument/2006/relationships/presProps" Target="/ppt/presProps.xml" Id="Rfce3fdd3bdac4cfb" /><Relationship Type="http://schemas.openxmlformats.org/officeDocument/2006/relationships/tableStyles" Target="/ppt/tableStyles.xml" Id="Re04dcb29fd1c4fc5" /><Relationship Type="http://schemas.openxmlformats.org/officeDocument/2006/relationships/slide" Target="/ppt/slides/slide1.xml" Id="R3f557c786f934412" /><Relationship Type="http://schemas.openxmlformats.org/officeDocument/2006/relationships/slide" Target="/ppt/slides/slide2.xml" Id="Ree5fbc1f89c04c34" /><Relationship Type="http://schemas.openxmlformats.org/officeDocument/2006/relationships/slide" Target="/ppt/slides/slide3.xml" Id="Ra3cc38df02f347ed" /><Relationship Type="http://schemas.openxmlformats.org/officeDocument/2006/relationships/slide" Target="/ppt/slides/slide4.xml" Id="R839583904db5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098d89fbe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2377b3dc9f46d4" /><Relationship Type="http://schemas.openxmlformats.org/officeDocument/2006/relationships/notesMaster" Target="/ppt/notesMasters/notesMaster1.xml" Id="R310c2b23afb74c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fa868051a4d5f" /><Relationship Type="http://schemas.openxmlformats.org/officeDocument/2006/relationships/notesMaster" Target="/ppt/notesMasters/notesMaster1.xml" Id="Ra42a0c50d58f41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f7b6ef3434aea" /><Relationship Type="http://schemas.openxmlformats.org/officeDocument/2006/relationships/notesMaster" Target="/ppt/notesMasters/notesMaster1.xml" Id="R30c15faed5884e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5f04bbb1b04a46" /><Relationship Type="http://schemas.openxmlformats.org/officeDocument/2006/relationships/notesMaster" Target="/ppt/notesMasters/notesMaster1.xml" Id="Rb4a6c4b72c9d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framing and audience script: /Users/efi/Hackathons/Monad/docs/pitch.md</a:t>
            </a:r>
          </a:p>
          <a:p xmlns:a="http://schemas.openxmlformats.org/drawingml/2006/main">
            <a:r>
              <a:t>- Live deployment URL and demo status: /Users/efi/Hackathons/Monad/docs/tasks.md</a:t>
            </a:r>
          </a:p>
          <a:p xmlns:a="http://schemas.openxmlformats.org/drawingml/2006/main">
            <a:r>
              <a:t>- Public deployment summary: /Users/efi/Hackathons/Monad/README.md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screenshot captured 2026-08-08 from https://clutch-597773359205.europe-west2.run.app/screen</a:t>
            </a:r>
          </a:p>
          <a:p xmlns:a="http://schemas.openxmlformats.org/drawingml/2006/main">
            <a:r>
              <a:t>- Screenshot asset: /Users/efi/Hackathons/Monad/.tmp/presentation-build/clutch-screen.png</a:t>
            </a:r>
          </a:p>
          <a:p xmlns:a="http://schemas.openxmlformats.org/drawingml/2006/main">
            <a:r>
              <a:t>- QR join flow and projector behavior: /Users/efi/Hackathons/Monad/docs/architecture.md</a:t>
            </a:r>
          </a:p>
          <a:p xmlns:a="http://schemas.openxmlformats.org/drawingml/2006/main">
            <a:r>
              <a:t>- Audience flow and setup checklist: /Users/efi/Hackathons/Monad/docs/pitch.md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screenshot captured 2026-08-08 from https://clutch-597773359205.europe-west2.run.app/frontend</a:t>
            </a:r>
          </a:p>
          <a:p xmlns:a="http://schemas.openxmlformats.org/drawingml/2006/main">
            <a:r>
              <a:t>- Screenshot asset: /Users/efi/Hackathons/Monad/.tmp/presentation-build/clutch-frontend.png</a:t>
            </a:r>
          </a:p>
          <a:p xmlns:a="http://schemas.openxmlformats.org/drawingml/2006/main">
            <a:r>
              <a:t>- Funding amount, live market #1, and real trade repricing proofs: /Users/efi/Hackathons/Monad/docs/tasks.md</a:t>
            </a:r>
          </a:p>
          <a:p xmlns:a="http://schemas.openxmlformats.org/drawingml/2006/main">
            <a:r>
              <a:t>- Contract page: https://testnet.monadscan.com/address/0x194bd79723fC1C6BC6Cf635349f0190EbCFf59AD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QR generated 2026-08-08 from https://clutch-597773359205.europe-west2.run.app/join</a:t>
            </a:r>
          </a:p>
          <a:p xmlns:a="http://schemas.openxmlformats.org/drawingml/2006/main">
            <a:r>
              <a:t>- QR asset: /Users/efi/Hackathons/Monad/.tmp/presentation-build/clutch-join-qr.png</a:t>
            </a:r>
          </a:p>
          <a:p xmlns:a="http://schemas.openxmlformats.org/drawingml/2006/main">
            <a:r>
              <a:t>- Public app URL and join flow: /Users/efi/Hackathons/Monad/docs/tasks.md</a:t>
            </a:r>
          </a:p>
          <a:p xmlns:a="http://schemas.openxmlformats.org/drawingml/2006/main">
            <a:r>
              <a:t>- Public deployment summary: /Users/efi/Hackathons/Monad/README.md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16fb8e23043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a55281ada4d01" /><Relationship Type="http://schemas.openxmlformats.org/officeDocument/2006/relationships/slideLayout" Target="/ppt/slideLayouts/slideLayout1.xml" Id="Re7f161826be049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161826be049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2d2a92887408b" /><Relationship Type="http://schemas.openxmlformats.org/officeDocument/2006/relationships/hyperlink" Target="https://clutch-597773359205.europe-west2.run.app/frontend" TargetMode="External" Id="R954d32afde03423f" /><Relationship Type="http://schemas.openxmlformats.org/officeDocument/2006/relationships/notesSlide" Target="/ppt/notesSlides/notesSlide1.xml" Id="Rd309ca54678d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90ae9b9f9478f" /><Relationship Type="http://schemas.openxmlformats.org/officeDocument/2006/relationships/image" Target="/ppt/media/image.png" Id="R38de022e00834c01" /><Relationship Type="http://schemas.openxmlformats.org/officeDocument/2006/relationships/notesSlide" Target="/ppt/notesSlides/notesSlide2.xml" Id="Rd22c37acdbf044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886924d0a4723" /><Relationship Type="http://schemas.openxmlformats.org/officeDocument/2006/relationships/image" Target="/ppt/media/image2.png" Id="R0d4ff5e535314424" /><Relationship Type="http://schemas.openxmlformats.org/officeDocument/2006/relationships/notesSlide" Target="/ppt/notesSlides/notesSlide3.xml" Id="R5222b2a9af66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f8b21283a44e4" /><Relationship Type="http://schemas.openxmlformats.org/officeDocument/2006/relationships/hyperlink" Target="https://clutch-597773359205.europe-west2.run.app/frontend" TargetMode="External" Id="R8cb4b386d60546d8" /><Relationship Type="http://schemas.openxmlformats.org/officeDocument/2006/relationships/image" Target="/ppt/media/image3.png" Id="R73980d09ee8c46d5" /><Relationship Type="http://schemas.openxmlformats.org/officeDocument/2006/relationships/notesSlide" Target="/ppt/notesSlides/notesSlide4.xml" Id="Rd27f4757de9d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1-eyebrow">
            <a:extLst xmlns:a="http://schemas.openxmlformats.org/drawingml/2006/main">
              <a:ext uri="{FF2B5EF4-FFF2-40B4-BE49-F238E27FC236}">
                <a16:creationId xmlns:a16="http://schemas.microsoft.com/office/drawing/2014/main" id="{BDCBD363-CF0F-4531-B8A2-4F97B37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Monad Blitz London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48346043-E0BF-48D5-8BFD-FDA05F8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962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Clutch turns virality into a live market</a:t>
            </a:r>
          </a:p>
        </p:txBody>
      </p:sp>
      <p:sp>
        <p:nvSpPr>
          <p:cNvPr id="3" name="s1-subtitle">
            <a:extLst xmlns:a="http://schemas.openxmlformats.org/drawingml/2006/main">
              <a:ext uri="{FF2B5EF4-FFF2-40B4-BE49-F238E27FC236}">
                <a16:creationId xmlns:a16="http://schemas.microsoft.com/office/drawing/2014/main" id="{7C1AF46E-9F3D-458C-A7A5-5250F741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A room scans, gets funded in seconds, trades YES/NO on creator momentum, and watches the odds move live on Monad.</a:t>
            </a:r>
          </a:p>
        </p:txBody>
      </p:sp>
      <p:sp>
        <p:nvSpPr>
          <p:cNvPr id="4" name="s1-link">
            <a:extLst xmlns:a="http://schemas.openxmlformats.org/drawingml/2006/main">
              <a:ext uri="{FF2B5EF4-FFF2-40B4-BE49-F238E27FC236}">
                <a16:creationId xmlns:a16="http://schemas.microsoft.com/office/drawing/2014/main" id="{8323970D-D8E8-4068-A416-8C332A23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316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954d32afde03423f"/>
              </a:rPr>
              <a:t>Open live demo</a:t>
            </a:r>
          </a:p>
        </p:txBody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B967BDE1-A810-4BC7-885A-4D28A922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7648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2-title">
            <a:extLst xmlns:a="http://schemas.openxmlformats.org/drawingml/2006/main">
              <a:ext uri="{FF2B5EF4-FFF2-40B4-BE49-F238E27FC236}">
                <a16:creationId xmlns:a16="http://schemas.microsoft.com/office/drawing/2014/main" id="{BC0B57DA-6227-43C8-81DF-0FFC7A0F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room joins and trades in seconds</a:t>
            </a:r>
          </a:p>
        </p:txBody>
      </p:sp>
      <p:sp>
        <p:nvSpPr>
          <p:cNvPr id="2" name="s2-body">
            <a:extLst xmlns:a="http://schemas.openxmlformats.org/drawingml/2006/main">
              <a:ext uri="{FF2B5EF4-FFF2-40B4-BE49-F238E27FC236}">
                <a16:creationId xmlns:a16="http://schemas.microsoft.com/office/drawing/2014/main" id="{FE45CD74-582C-4C22-A857-4570CAD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Clutch removes the normal crypto friction. The audience scans one QR, gets a funded burner wallet, and votes YES or NO while the same creator clip is still playing on the projector.</a:t>
            </a:r>
          </a:p>
        </p:txBody>
      </p:sp>
      <p:sp>
        <p:nvSpPr>
          <p:cNvPr id="3" name="s2-rule">
            <a:extLst xmlns:a="http://schemas.openxmlformats.org/drawingml/2006/main">
              <a:ext uri="{FF2B5EF4-FFF2-40B4-BE49-F238E27FC236}">
                <a16:creationId xmlns:a16="http://schemas.microsoft.com/office/drawing/2014/main" id="{ACF9DEC5-3E4B-4428-87BA-0D278A26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2-callout">
            <a:extLst xmlns:a="http://schemas.openxmlformats.org/drawingml/2006/main">
              <a:ext uri="{FF2B5EF4-FFF2-40B4-BE49-F238E27FC236}">
                <a16:creationId xmlns:a16="http://schemas.microsoft.com/office/drawing/2014/main" id="{280C63DE-EB15-49C1-91F7-34DD19A4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38700"/>
            <a:ext cx="5143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2-callout-text">
            <a:extLst xmlns:a="http://schemas.openxmlformats.org/drawingml/2006/main">
              <a:ext uri="{FF2B5EF4-FFF2-40B4-BE49-F238E27FC236}">
                <a16:creationId xmlns:a16="http://schemas.microsoft.com/office/drawing/2014/main" id="{61AB36BA-78F6-41DC-9EAF-4E2FCC72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9587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MetaMask. No faucet. No setup. Just scan and trade.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e022e00834c01"/>
          <a:srcRect xmlns:a="http://schemas.openxmlformats.org/drawingml/2006/main" l="19069" t="0" r="19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55ED3F57-29AE-48DD-83B5-9CF2C4F9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299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3-title">
            <a:extLst xmlns:a="http://schemas.openxmlformats.org/drawingml/2006/main">
              <a:ext uri="{FF2B5EF4-FFF2-40B4-BE49-F238E27FC236}">
                <a16:creationId xmlns:a16="http://schemas.microsoft.com/office/drawing/2014/main" id="{29AB083D-0D61-4E68-A3F4-8AA4CE31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market already reprices on Monad testnet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ff5e535314424"/>
          <a:srcRect xmlns:a="http://schemas.openxmlformats.org/drawingml/2006/main" l="12995" t="0" r="129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" y="1295400"/>
            <a:ext cx="5695950" cy="4810125"/>
          </a:xfrm>
          <a:prstGeom xmlns:a="http://schemas.openxmlformats.org/drawingml/2006/main" prst="roundRect">
            <a:avLst>
              <a:gd name="adj" fmla="val 2376"/>
            </a:avLst>
          </a:prstGeom>
        </p:spPr>
      </p:pic>
      <p:sp>
        <p:nvSpPr>
          <p:cNvPr id="3" name="s3-card-1">
            <a:extLst xmlns:a="http://schemas.openxmlformats.org/drawingml/2006/main">
              <a:ext uri="{FF2B5EF4-FFF2-40B4-BE49-F238E27FC236}">
                <a16:creationId xmlns:a16="http://schemas.microsoft.com/office/drawing/2014/main" id="{425B243E-DD89-4783-B745-7342D353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295400"/>
            <a:ext cx="49149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s3-card-1-label">
            <a:extLst xmlns:a="http://schemas.openxmlformats.org/drawingml/2006/main">
              <a:ext uri="{FF2B5EF4-FFF2-40B4-BE49-F238E27FC236}">
                <a16:creationId xmlns:a16="http://schemas.microsoft.com/office/drawing/2014/main" id="{269B10FE-3460-4D83-9883-C6AFF43B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525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Sponsor funding landed</a:t>
            </a:r>
          </a:p>
        </p:txBody>
      </p:sp>
      <p:sp>
        <p:nvSpPr>
          <p:cNvPr id="5" name="s3-card-1-value">
            <a:extLst xmlns:a="http://schemas.openxmlformats.org/drawingml/2006/main">
              <a:ext uri="{FF2B5EF4-FFF2-40B4-BE49-F238E27FC236}">
                <a16:creationId xmlns:a16="http://schemas.microsoft.com/office/drawing/2014/main" id="{0B0008D1-1232-4D0D-B7FD-CA04A5D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288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0.200 MON to a fresh burner wallet</a:t>
            </a:r>
          </a:p>
        </p:txBody>
      </p:sp>
      <p:sp>
        <p:nvSpPr>
          <p:cNvPr id="6" name="s3-card-2">
            <a:extLst xmlns:a="http://schemas.openxmlformats.org/drawingml/2006/main">
              <a:ext uri="{FF2B5EF4-FFF2-40B4-BE49-F238E27FC236}">
                <a16:creationId xmlns:a16="http://schemas.microsoft.com/office/drawing/2014/main" id="{108A8A26-F303-4754-9EF9-0070F6D5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52700"/>
            <a:ext cx="49149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3-card-2-label">
            <a:extLst xmlns:a="http://schemas.openxmlformats.org/drawingml/2006/main">
              <a:ext uri="{FF2B5EF4-FFF2-40B4-BE49-F238E27FC236}">
                <a16:creationId xmlns:a16="http://schemas.microsoft.com/office/drawing/2014/main" id="{A9494187-6C1E-485B-9451-B1C5CE0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098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Real NO trade moved the odds</a:t>
            </a:r>
          </a:p>
        </p:txBody>
      </p:sp>
      <p:sp>
        <p:nvSpPr>
          <p:cNvPr id="8" name="s3-card-2-value">
            <a:extLst xmlns:a="http://schemas.openxmlformats.org/drawingml/2006/main">
              <a:ext uri="{FF2B5EF4-FFF2-40B4-BE49-F238E27FC236}">
                <a16:creationId xmlns:a16="http://schemas.microsoft.com/office/drawing/2014/main" id="{41423B87-0606-4513-9A53-E45E7AA9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861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 50.0% -&gt; 47.6%</a:t>
            </a:r>
          </a:p>
        </p:txBody>
      </p:sp>
      <p:sp>
        <p:nvSpPr>
          <p:cNvPr id="9" name="s3-card-3">
            <a:extLst xmlns:a="http://schemas.openxmlformats.org/drawingml/2006/main">
              <a:ext uri="{FF2B5EF4-FFF2-40B4-BE49-F238E27FC236}">
                <a16:creationId xmlns:a16="http://schemas.microsoft.com/office/drawing/2014/main" id="{BD23DA87-4461-4F04-B951-8D6E0127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10000"/>
            <a:ext cx="49149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3-card-3-label">
            <a:extLst xmlns:a="http://schemas.openxmlformats.org/drawingml/2006/main">
              <a:ext uri="{FF2B5EF4-FFF2-40B4-BE49-F238E27FC236}">
                <a16:creationId xmlns:a16="http://schemas.microsoft.com/office/drawing/2014/main" id="{BD6AA371-6046-43F2-A965-F2DF04D0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67175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Real YES trade moved it back</a:t>
            </a:r>
          </a:p>
        </p:txBody>
      </p:sp>
      <p:sp>
        <p:nvSpPr>
          <p:cNvPr id="11" name="s3-card-3-value">
            <a:extLst xmlns:a="http://schemas.openxmlformats.org/drawingml/2006/main">
              <a:ext uri="{FF2B5EF4-FFF2-40B4-BE49-F238E27FC236}">
                <a16:creationId xmlns:a16="http://schemas.microsoft.com/office/drawing/2014/main" id="{1C3B62E2-6645-4382-80FC-EDBB73F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434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YES 47.6% -&gt; 50.1%</a:t>
            </a:r>
          </a:p>
        </p:txBody>
      </p:sp>
      <p:sp>
        <p:nvSpPr>
          <p:cNvPr id="12" name="s3-summary">
            <a:extLst xmlns:a="http://schemas.openxmlformats.org/drawingml/2006/main">
              <a:ext uri="{FF2B5EF4-FFF2-40B4-BE49-F238E27FC236}">
                <a16:creationId xmlns:a16="http://schemas.microsoft.com/office/drawing/2014/main" id="{620022D5-E9AC-45A1-AA68-F733D79E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314950"/>
            <a:ext cx="491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audience is not watching a simulated chart. The same live market already has funded wallets, confirmed trades, and MonadScan proof.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40B7B292-7D69-4DAB-B575-5B73C8F7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12773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4-eyebrow">
            <a:extLst xmlns:a="http://schemas.openxmlformats.org/drawingml/2006/main">
              <a:ext uri="{FF2B5EF4-FFF2-40B4-BE49-F238E27FC236}">
                <a16:creationId xmlns:a16="http://schemas.microsoft.com/office/drawing/2014/main" id="{11ABA2BB-FC67-4F6B-AE54-6DE3F582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Vote with your phone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9DAA6EDE-3561-434A-B687-368738DB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Scan, trade, and vote for Clutch</a:t>
            </a:r>
          </a:p>
        </p:txBody>
      </p:sp>
      <p:sp>
        <p:nvSpPr>
          <p:cNvPr id="3" name="s4-body">
            <a:extLst xmlns:a="http://schemas.openxmlformats.org/drawingml/2006/main">
              <a:ext uri="{FF2B5EF4-FFF2-40B4-BE49-F238E27FC236}">
                <a16:creationId xmlns:a16="http://schemas.microsoft.com/office/drawing/2014/main" id="{6F3F473C-F494-4F90-AC61-4C3E0DF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Open the live demo, get testnet MON instantly, and push the market while the reel is still on screen.</a:t>
            </a:r>
          </a:p>
        </p:txBody>
      </p:sp>
      <p:sp>
        <p:nvSpPr>
          <p:cNvPr id="4" name="s4-link">
            <a:extLst xmlns:a="http://schemas.openxmlformats.org/drawingml/2006/main">
              <a:ext uri="{FF2B5EF4-FFF2-40B4-BE49-F238E27FC236}">
                <a16:creationId xmlns:a16="http://schemas.microsoft.com/office/drawing/2014/main" id="{31D49C85-2627-456B-9C84-732A7570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721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u="sng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cb4b386d60546d8"/>
              </a:rPr>
              <a:t>clutch-597773359205.europe-west2.run.app/frontend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80d09ee8c46d5"/>
          <a:stretch xmlns:a="http://schemas.openxmlformats.org/drawingml/2006/main"/>
        </p:blipFill>
        <p:spPr>
          <a:xfrm xmlns:a="http://schemas.openxmlformats.org/drawingml/2006/main">
            <a:off x="6819900" y="83820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s4-qr-caption-panel">
            <a:extLst xmlns:a="http://schemas.openxmlformats.org/drawingml/2006/main">
              <a:ext uri="{FF2B5EF4-FFF2-40B4-BE49-F238E27FC236}">
                <a16:creationId xmlns:a16="http://schemas.microsoft.com/office/drawing/2014/main" id="{71FCAAE3-FA5A-491C-B3C0-B1A8B028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486400"/>
            <a:ext cx="4972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4-qr-caption">
            <a:extLst xmlns:a="http://schemas.openxmlformats.org/drawingml/2006/main">
              <a:ext uri="{FF2B5EF4-FFF2-40B4-BE49-F238E27FC236}">
                <a16:creationId xmlns:a16="http://schemas.microsoft.com/office/drawing/2014/main" id="{C1C58B9B-4A0D-4E03-9537-159FAE8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6959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QR points directly to the live join route</a:t>
            </a:r>
          </a:p>
        </p:txBody>
      </p:sp>
      <p:sp>
        <p:nvSpPr>
          <p:cNvPr id="8" name="footer-4">
            <a:extLst xmlns:a="http://schemas.openxmlformats.org/drawingml/2006/main">
              <a:ext uri="{FF2B5EF4-FFF2-40B4-BE49-F238E27FC236}">
                <a16:creationId xmlns:a16="http://schemas.microsoft.com/office/drawing/2014/main" id="{627ADC06-B80D-4D5B-8079-14495D2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36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1079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2026-08-08T18:18:39.3200000Z</dcterms:created>
  <dcterms:modified xsi:type="dcterms:W3CDTF">2026-08-08T18:18:39.3200000Z</dcterms:modified>
</coreProperties>
</file>